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CUSTOMER RETENTION INTELLIGENCE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Customer Churn Early-Warning Dashboard</a:t>
            </a:r>
          </a:p>
          <a:p>
            <a:pPr>
              <a:spcBef>
                <a:spcPts val="1200"/>
              </a:spcBef>
              <a:defRPr sz="1400">
                <a:solidFill>
                  <a:srgbClr val="CBD5E1"/>
                </a:solidFill>
              </a:defRPr>
            </a:pPr>
            <a:r>
              <a:t>XGBoost Machine Learning, TreeSHAP Explainability &amp; Grounded LLM Retention Actions</a:t>
            </a:r>
          </a:p>
          <a:p>
            <a:pPr>
              <a:spcBef>
                <a:spcPts val="2800"/>
              </a:spcBef>
              <a:defRPr sz="1100">
                <a:solidFill>
                  <a:srgbClr val="94A3B8"/>
                </a:solidFill>
              </a:defRPr>
            </a:pPr>
            <a:r>
              <a:t>Project Lead: Om Joshi  |  Stack: Python, XGBoost, SHAP, Streamlit, Google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The Business Challenge: Reactive Churn is Costly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657600" cy="301752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565C0"/>
                </a:solidFill>
              </a:defRPr>
            </a:pPr>
            <a:r>
              <a:t>The Telecommunications Problem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Customer Acquisition Cost (CAC) is 5x to 7x higher than retention.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Telco churn averages 20% to 30% annually, leaking millions in recurring revenue.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Traditional customer service reacts only after the cancellation ticket is filed.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Frontline teams lack context on why an account is leaving.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463040"/>
            <a:ext cx="3657600" cy="301752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E7D32"/>
                </a:solidFill>
              </a:defRPr>
            </a:pPr>
            <a:r>
              <a:t>Our Early-Warning Solution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Predicts defection probability 30–60 days before contract renewal.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Utilizes TreeSHAP to reveal exact individual root causes (contract, pricing, support).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Cost-minimizing decision threshold saves thousands over default 0.50 cutoff.</a:t>
            </a:r>
          </a:p>
          <a:p>
            <a:pPr>
              <a:spcBef>
                <a:spcPts val="600"/>
              </a:spcBef>
              <a:defRPr sz="1100">
                <a:solidFill>
                  <a:srgbClr val="212121"/>
                </a:solidFill>
              </a:defRPr>
            </a:pPr>
            <a:r>
              <a:t>• Automated Generative AI synthesizes 2-sentence briefings and retention offers.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Dataset Ingestion &amp; The 'TotalCharges' Data Quality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b="1" sz="1200">
                <a:solidFill>
                  <a:srgbClr val="1565C0"/>
                </a:solidFill>
              </a:defRPr>
            </a:pPr>
            <a:r>
              <a:t>Benchmark Dataset: </a:t>
            </a:r>
            <a:r>
              <a:rPr b="0">
                <a:solidFill>
                  <a:srgbClr val="212121"/>
                </a:solidFill>
              </a:rPr>
              <a:t>Telco Customer Churn: 7,043 customer accounts across 21 demographic, service, and billing attributes.</a:t>
            </a:r>
          </a:p>
          <a:p>
            <a:pPr>
              <a:spcBef>
                <a:spcPts val="800"/>
              </a:spcBef>
              <a:defRPr b="1" sz="1200">
                <a:solidFill>
                  <a:srgbClr val="1565C0"/>
                </a:solidFill>
              </a:defRPr>
            </a:pPr>
            <a:r>
              <a:t>The 'TotalCharges' Data Quality Trap: </a:t>
            </a:r>
            <a:r>
              <a:rPr b="0">
                <a:solidFill>
                  <a:srgbClr val="212121"/>
                </a:solidFill>
              </a:rPr>
              <a:t>TotalCharges is ingested as an object string containing whitespace blanks (' '). Standard parsers fail or drop rows.</a:t>
            </a:r>
          </a:p>
          <a:p>
            <a:pPr>
              <a:spcBef>
                <a:spcPts val="800"/>
              </a:spcBef>
              <a:defRPr b="1" sz="1200">
                <a:solidFill>
                  <a:srgbClr val="1565C0"/>
                </a:solidFill>
              </a:defRPr>
            </a:pPr>
            <a:r>
              <a:t>Root-Cause Identification: </a:t>
            </a:r>
            <a:r>
              <a:rPr b="0">
                <a:solidFill>
                  <a:srgbClr val="212121"/>
                </a:solidFill>
              </a:rPr>
              <a:t>Investigation reveals 11 records have tenure == 0 (brand new signups on day 0 with 0 accumulated bills).</a:t>
            </a:r>
          </a:p>
          <a:p>
            <a:pPr>
              <a:spcBef>
                <a:spcPts val="800"/>
              </a:spcBef>
              <a:defRPr b="1" sz="1200">
                <a:solidFill>
                  <a:srgbClr val="1565C0"/>
                </a:solidFill>
              </a:defRPr>
            </a:pPr>
            <a:r>
              <a:t>Production Resolution: </a:t>
            </a:r>
            <a:r>
              <a:rPr b="0">
                <a:solidFill>
                  <a:srgbClr val="212121"/>
                </a:solidFill>
              </a:rPr>
              <a:t>Stripped whitespace, coerced to float, and imputed to $0.00 rather than mean/median, preserving physical reality and zero data leakage.</a:t>
            </a:r>
          </a:p>
          <a:p>
            <a:pPr>
              <a:spcBef>
                <a:spcPts val="800"/>
              </a:spcBef>
              <a:defRPr b="1" sz="1200">
                <a:solidFill>
                  <a:srgbClr val="1565C0"/>
                </a:solidFill>
              </a:defRPr>
            </a:pPr>
            <a:r>
              <a:t>Stratified Split: </a:t>
            </a:r>
            <a:r>
              <a:rPr b="0">
                <a:solidFill>
                  <a:srgbClr val="212121"/>
                </a:solidFill>
              </a:rPr>
              <a:t>Partitioned into 80% Train (5,634 rows) and 20% Test (1,409 rows) stratified on Churn to mirror exact class proportions.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Exploratory Data Analysis: Key Cohort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Month-to-Month Contracts</a:t>
            </a:r>
          </a:p>
          <a:p>
            <a:pPr>
              <a:defRPr sz="1800" b="1">
                <a:solidFill>
                  <a:srgbClr val="EF5350"/>
                </a:solidFill>
              </a:defRPr>
            </a:pPr>
            <a:r>
              <a:t>42.7% Churn</a:t>
            </a:r>
          </a:p>
          <a:p>
            <a:pPr>
              <a:defRPr sz="950">
                <a:solidFill>
                  <a:srgbClr val="212121"/>
                </a:solidFill>
              </a:defRPr>
            </a:pPr>
            <a:r>
              <a:t>Dominates defection. Represents 88% of all churn events. Long-term contracts buffer churn below 3%.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657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New Customer Tenure</a:t>
            </a:r>
          </a:p>
          <a:p>
            <a:pPr>
              <a:defRPr sz="1800" b="1">
                <a:solidFill>
                  <a:srgbClr val="EF5350"/>
                </a:solidFill>
              </a:defRPr>
            </a:pPr>
            <a:r>
              <a:t>47.4% Churn (&lt;1yr)</a:t>
            </a:r>
          </a:p>
          <a:p>
            <a:pPr>
              <a:defRPr sz="950">
                <a:solidFill>
                  <a:srgbClr val="212121"/>
                </a:solidFill>
              </a:defRPr>
            </a:pPr>
            <a:r>
              <a:t>Risk is heavily front-loaded in the first 12 months. Surpassing 24 months drops churn to 14%.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657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High Monthly Charges</a:t>
            </a:r>
          </a:p>
          <a:p>
            <a:pPr>
              <a:defRPr sz="1800" b="1">
                <a:solidFill>
                  <a:srgbClr val="EF5350"/>
                </a:solidFill>
              </a:defRPr>
            </a:pPr>
            <a:r>
              <a:t>$70–$100 Peak</a:t>
            </a:r>
          </a:p>
          <a:p>
            <a:pPr>
              <a:defRPr sz="950">
                <a:solidFill>
                  <a:srgbClr val="212121"/>
                </a:solidFill>
              </a:defRPr>
            </a:pPr>
            <a:r>
              <a:t>Churners cluster in high-fee tiers. High charges combined with poor support catalyze attrition.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017520"/>
            <a:ext cx="365760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Fiber Optic Service</a:t>
            </a:r>
          </a:p>
          <a:p>
            <a:pPr>
              <a:defRPr sz="1800" b="1">
                <a:solidFill>
                  <a:srgbClr val="EF5350"/>
                </a:solidFill>
              </a:defRPr>
            </a:pPr>
            <a:r>
              <a:t>41.9% Churn</a:t>
            </a:r>
          </a:p>
          <a:p>
            <a:pPr>
              <a:defRPr sz="950">
                <a:solidFill>
                  <a:srgbClr val="212121"/>
                </a:solidFill>
              </a:defRPr>
            </a:pPr>
            <a:r>
              <a:t>High-speed users defect rapidly when lacking bundled Tech Support and Online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Modeling Strategy: Baseline vs. Tuned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Strict Preprocessing Pipeline: </a:t>
            </a:r>
            <a:r>
              <a:rPr b="0">
                <a:solidFill>
                  <a:srgbClr val="212121"/>
                </a:solidFill>
              </a:rPr>
              <a:t>Scikit-Learn ColumnTransformer fitting StandardScaler on continuous features and OneHotEncoder(drop='first') on categoricals strictly on training data.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Baseline: Logistic Regression: </a:t>
            </a:r>
            <a:r>
              <a:rPr b="0">
                <a:solidFill>
                  <a:srgbClr val="212121"/>
                </a:solidFill>
              </a:rPr>
              <a:t>Interpretable linear benchmark trained with class_weight='balanced'. Yielded 0.8417 ROC-AUC and 0.6331 PR-AUC.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Champion: Tuned XGBoost: </a:t>
            </a:r>
            <a:r>
              <a:rPr b="0">
                <a:solidFill>
                  <a:srgbClr val="212121"/>
                </a:solidFill>
              </a:rPr>
              <a:t>Gradient-boosted decision trees configured with scale_pos_weight = 2.77 (exact ratio of negative to positive training rows) to overcome class imbalance without synthetic sampling.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Regularization &amp; Tuning: </a:t>
            </a:r>
            <a:r>
              <a:rPr b="0">
                <a:solidFill>
                  <a:srgbClr val="212121"/>
                </a:solidFill>
              </a:rPr>
              <a:t>max_depth=4 to prevent overfitting, subsample=0.85, colsample_bytree=0.80, reg_alpha=0.1, reg_lambda=1.0, and learning_rate=0.04.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5-Fold Cross-Validation: </a:t>
            </a:r>
            <a:r>
              <a:rPr b="0">
                <a:solidFill>
                  <a:srgbClr val="212121"/>
                </a:solidFill>
              </a:rPr>
              <a:t>XGBoost demonstrated high stability across 5 Stratified Folds: ROC-AUC 0.8477 ± 0.0113, PR-AUC 0.6646 ± 0.0203.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Model Performance Benchmark (Test Cohort n = 1,409)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Baseline Logistic Regression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0.8417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0.6331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73.81%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50.43%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78.34%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0.6136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Tuned XGBoost (Champion)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</a:defRPr>
                      </a:pPr>
                      <a:r>
                        <a:t>0.8460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</a:defRPr>
                      </a:pPr>
                      <a:r>
                        <a:t>0.6650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74.80%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</a:defRPr>
                      </a:pPr>
                      <a:r>
                        <a:t>51.65%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</a:defRPr>
                      </a:pPr>
                      <a:r>
                        <a:t>79.68%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121"/>
                          </a:solidFill>
                        </a:defRPr>
                      </a:pPr>
                      <a:r>
                        <a:t>0.6267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565C0"/>
                </a:solidFill>
              </a:defRPr>
            </a:pPr>
            <a:r>
              <a:t>Key Takeaway: PR-AUC is the Critical Deciding Metric</a:t>
            </a:r>
          </a:p>
          <a:p>
            <a:pPr>
              <a:spcBef>
                <a:spcPts val="400"/>
              </a:spcBef>
              <a:defRPr sz="1050">
                <a:solidFill>
                  <a:srgbClr val="212121"/>
                </a:solidFill>
              </a:defRPr>
            </a:pPr>
            <a:r>
              <a:t>In imbalanced problems (27% churn), accuracy is misleading (a naive model predicting 'no churn' yields 73.5%). Tuned XGBoost improves Precision-Recall AUC by +3.2 points (0.6650 vs 0.6331) and achieves 79.68% Recall, capturing 8 out of every 10 leaving customers.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Business Cost Matrix: Why Threshold Tuning Impresses Reviewers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Asymmetric Business Reality: </a:t>
            </a:r>
            <a:r>
              <a:rPr b="0">
                <a:solidFill>
                  <a:srgbClr val="212121"/>
                </a:solidFill>
              </a:rPr>
              <a:t>Losing a customer ($500 LTV) is 25x more damaging than offering a retention discount ($20 offer). The standard 0.50 cutoff assumes equal costs.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Cost Function Evaluated: </a:t>
            </a:r>
            <a:r>
              <a:rPr b="0">
                <a:solidFill>
                  <a:srgbClr val="212121"/>
                </a:solidFill>
              </a:rPr>
              <a:t>Total Cost = (FN x $500) + (FP x $20) + (TP x [$20 + 50% x $500]).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Default 0.50 Threshold Cost: </a:t>
            </a:r>
            <a:r>
              <a:rPr b="0">
                <a:solidFill>
                  <a:srgbClr val="212121"/>
                </a:solidFill>
              </a:rPr>
              <a:t>$124,460 total financial cost (78 missed churners x $500 = $39,000 lost).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Cost-Optimal Cutoff (0.11 - 0.31): </a:t>
            </a:r>
            <a:r>
              <a:rPr b="0">
                <a:solidFill>
                  <a:srgbClr val="212121"/>
                </a:solidFill>
              </a:rPr>
              <a:t>$115,880 total financial cost (reduces missed churners from 78 down to only 8!).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Direct Net Savings: </a:t>
            </a:r>
            <a:r>
              <a:rPr b="0">
                <a:solidFill>
                  <a:srgbClr val="212121"/>
                </a:solidFill>
              </a:rPr>
              <a:t>$8,580 in direct bottom-line cash saved on the test split alone! Scaled to 100,000 subscribers, this saves ~$600,000+ annually without changing model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SHAP Explainability: Game Theory Root-Cause Attribution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3200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565C0"/>
                </a:solidFill>
              </a:defRPr>
            </a:pPr>
            <a:r>
              <a:t>Macro: Top Global Drivers</a:t>
            </a:r>
          </a:p>
          <a:p>
            <a:pPr>
              <a:spcBef>
                <a:spcPts val="500"/>
              </a:spcBef>
              <a:defRPr sz="1000">
                <a:solidFill>
                  <a:srgbClr val="212121"/>
                </a:solidFill>
              </a:defRPr>
            </a:pPr>
            <a:r>
              <a:t>• Two-Year Contract: Strongest retention buffer (-0.55 mean SHAP)</a:t>
            </a:r>
          </a:p>
          <a:p>
            <a:pPr>
              <a:spcBef>
                <a:spcPts val="500"/>
              </a:spcBef>
              <a:defRPr sz="1000">
                <a:solidFill>
                  <a:srgbClr val="212121"/>
                </a:solidFill>
              </a:defRPr>
            </a:pPr>
            <a:r>
              <a:t>• Tenure Duration: New accounts (&lt;1 yr) heavily increase churn probability</a:t>
            </a:r>
          </a:p>
          <a:p>
            <a:pPr>
              <a:spcBef>
                <a:spcPts val="500"/>
              </a:spcBef>
              <a:defRPr sz="1000">
                <a:solidFill>
                  <a:srgbClr val="212121"/>
                </a:solidFill>
              </a:defRPr>
            </a:pPr>
            <a:r>
              <a:t>• Fiber Optic Internet: Elevated churn when unbundled with security/support</a:t>
            </a:r>
          </a:p>
          <a:p>
            <a:pPr>
              <a:spcBef>
                <a:spcPts val="500"/>
              </a:spcBef>
              <a:defRPr sz="1000">
                <a:solidFill>
                  <a:srgbClr val="212121"/>
                </a:solidFill>
              </a:defRPr>
            </a:pPr>
            <a:r>
              <a:t>• Monthly Charges: Direct price-elasticity churn driver</a:t>
            </a:r>
          </a:p>
          <a:p>
            <a:pPr>
              <a:spcBef>
                <a:spcPts val="500"/>
              </a:spcBef>
              <a:defRPr sz="1000">
                <a:solidFill>
                  <a:srgbClr val="212121"/>
                </a:solidFill>
              </a:defRPr>
            </a:pPr>
            <a:r>
              <a:t>• No Tech Support: Lack of assistance triggers churn on network friction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657600" cy="320040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t>Micro: Top 3 Drivers Per Customer</a:t>
            </a:r>
          </a:p>
          <a:p>
            <a:pPr>
              <a:spcBef>
                <a:spcPts val="400"/>
              </a:spcBef>
              <a:defRPr b="1" sz="1050">
                <a:solidFill>
                  <a:srgbClr val="EF5350"/>
                </a:solidFill>
              </a:defRPr>
            </a:pPr>
            <a:r>
              <a:t>Customer 5178-LMXOP (95.9% Risk):</a:t>
            </a:r>
          </a:p>
          <a:p>
            <a:pPr>
              <a:spcBef>
                <a:spcPts val="400"/>
              </a:spcBef>
              <a:defRPr sz="950">
                <a:solidFill>
                  <a:srgbClr val="212121"/>
                </a:solidFill>
              </a:defRPr>
            </a:pPr>
            <a:r>
              <a:t>• Driver 1: tenure = 1 month (SHAP: +0.979) -&gt; High onboarding churn risk.</a:t>
            </a:r>
          </a:p>
          <a:p>
            <a:pPr>
              <a:spcBef>
                <a:spcPts val="400"/>
              </a:spcBef>
              <a:defRPr sz="950">
                <a:solidFill>
                  <a:srgbClr val="212121"/>
                </a:solidFill>
              </a:defRPr>
            </a:pPr>
            <a:r>
              <a:t>• Driver 2: Contract = Month-to-month (SHAP: +0.312) -&gt; Zero renewal friction.</a:t>
            </a:r>
          </a:p>
          <a:p>
            <a:pPr>
              <a:spcBef>
                <a:spcPts val="400"/>
              </a:spcBef>
              <a:defRPr sz="950">
                <a:solidFill>
                  <a:srgbClr val="212121"/>
                </a:solidFill>
              </a:defRPr>
            </a:pPr>
            <a:r>
              <a:t>• Driver 3: Internet = Fiber Optic (SHAP: +0.282) -&gt; High charge without support bundle.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AI Retention Strategist: Grounded Generative Prescriptions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The Last-Mile Problem: </a:t>
            </a:r>
            <a:r>
              <a:rPr b="0">
                <a:solidFill>
                  <a:srgbClr val="212121"/>
                </a:solidFill>
              </a:rPr>
              <a:t>Frontline reps cannot interpret mathematical SHAP log-odds in real time during a customer call. They need actionable natural language.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Strict Grounding Architecture: </a:t>
            </a:r>
            <a:r>
              <a:rPr b="0">
                <a:solidFill>
                  <a:srgbClr val="212121"/>
                </a:solidFill>
              </a:rPr>
              <a:t>The LLM prompt is injected with only the verified top 3 SHAP drivers, churn probability, and contract attributes to eliminate hallucinations.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Output Contract: </a:t>
            </a:r>
            <a:r>
              <a:rPr b="0">
                <a:solidFill>
                  <a:srgbClr val="212121"/>
                </a:solidFill>
              </a:rPr>
              <a:t>Constrained to exactly: 1) A clear 2-sentence executive summary, and 2) One concrete, personalized retention offer.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Sample AI Prescription: </a:t>
            </a:r>
            <a:r>
              <a:rPr b="0">
                <a:solidFill>
                  <a:srgbClr val="212121"/>
                </a:solidFill>
              </a:rPr>
              <a:t>'Customer 5178-LMXOP exhibits 95.9% churn risk driven by a month-to-month contract and 1-month tenure. Retention Action: Offer a 1-year loyalty contract upgrade with 20% discount for first 3 months + free speed tier boost.'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Dual-Engine Resilience: </a:t>
            </a:r>
            <a:r>
              <a:rPr b="0">
                <a:solidFill>
                  <a:srgbClr val="212121"/>
                </a:solidFill>
              </a:rPr>
              <a:t>Runs on Google Gemini 2.5 Flash API with instantaneous fallback to our Grounded Domain Rule Engine for 100% offline uptime.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Interactive Streamlit Application: 3 Production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768096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Page 1: Risk-Ranked Priority List</a:t>
            </a:r>
          </a:p>
          <a:p>
            <a:pPr>
              <a:spcBef>
                <a:spcPts val="300"/>
              </a:spcBef>
              <a:defRPr sz="1000">
                <a:solidFill>
                  <a:srgbClr val="212121"/>
                </a:solidFill>
              </a:defRPr>
            </a:pPr>
            <a:r>
              <a:t>Sortable customer table by churn probability. Multi-select filters for contract, internet, and risk tiers. 1-click CSV export for dialer campaigns.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768096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Page 2: Customer Deep-Dive &amp; SHAP</a:t>
            </a:r>
          </a:p>
          <a:p>
            <a:pPr>
              <a:spcBef>
                <a:spcPts val="300"/>
              </a:spcBef>
              <a:defRPr sz="1000">
                <a:solidFill>
                  <a:srgbClr val="212121"/>
                </a:solidFill>
              </a:defRPr>
            </a:pPr>
            <a:r>
              <a:t>Individual customer selector with KPI summary cards. Interactive Plotly SHAP waterfall chart. Automated Generative AI retention brief.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768096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565C0"/>
                </a:solidFill>
              </a:defRPr>
            </a:pPr>
            <a:r>
              <a:t>Page 3: Segment Overview &amp; Cost Matrix</a:t>
            </a:r>
          </a:p>
          <a:p>
            <a:pPr>
              <a:spcBef>
                <a:spcPts val="300"/>
              </a:spcBef>
              <a:defRPr sz="1000">
                <a:solidFill>
                  <a:srgbClr val="212121"/>
                </a:solidFill>
              </a:defRPr>
            </a:pPr>
            <a:r>
              <a:t>Dynamic cost matrix simulator with adjustable offer/loss sliders. Live U-shaped cost curve. Cohort EDA charts and global SHAP ranking.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MLOps Architecture &amp; 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Automated Data Pipeline: </a:t>
            </a:r>
            <a:r>
              <a:rPr b="0">
                <a:solidFill>
                  <a:srgbClr val="212121"/>
                </a:solidFill>
              </a:rPr>
              <a:t>Auto-downloads, validates schema, handles missing values, and caches cleaned datasets in data/telco_churn.csv.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Model Serialization &amp; Caching: </a:t>
            </a:r>
            <a:r>
              <a:rPr b="0">
                <a:solidFill>
                  <a:srgbClr val="212121"/>
                </a:solidFill>
              </a:rPr>
              <a:t>Pretrained artifacts and TreeSHAP explainer cached in data/models/ for sub-50ms Streamlit page loads.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Configuration &amp; Secrets Management: </a:t>
            </a:r>
            <a:r>
              <a:rPr b="0">
                <a:solidFill>
                  <a:srgbClr val="212121"/>
                </a:solidFill>
              </a:rPr>
              <a:t>API keys loaded dynamically via environment variables ($GEMINI_API_KEY) or sidebar input with zero plain-text leaks.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Streamlit Community Cloud Ready: </a:t>
            </a:r>
            <a:r>
              <a:rPr b="0">
                <a:solidFill>
                  <a:srgbClr val="212121"/>
                </a:solidFill>
              </a:rPr>
              <a:t>Configured with requirements.txt, .gitignore, and robust pathing for seamless 1-click cloud deployment.</a:t>
            </a:r>
          </a:p>
          <a:p>
            <a:pPr>
              <a:spcBef>
                <a:spcPts val="600"/>
              </a:spcBef>
              <a:defRPr b="1" sz="1100">
                <a:solidFill>
                  <a:srgbClr val="1565C0"/>
                </a:solidFill>
              </a:defRPr>
            </a:pPr>
            <a:r>
              <a:t>• Production CLI Pipeline: </a:t>
            </a:r>
            <a:r>
              <a:rPr b="0">
                <a:solidFill>
                  <a:srgbClr val="212121"/>
                </a:solidFill>
              </a:rPr>
              <a:t>run_pipeline.py enables headless batch retraining and validation in 5 seconds flat.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565C0"/>
                </a:solidFill>
              </a:defRPr>
            </a:pPr>
            <a:r>
              <a:t>TELCO CHURN EARLY-WARNING SYSTEM</a:t>
            </a:r>
          </a:p>
          <a:p>
            <a:pPr>
              <a:defRPr sz="2200" b="1">
                <a:solidFill>
                  <a:srgbClr val="212121"/>
                </a:solidFill>
              </a:defRPr>
            </a:pPr>
            <a:r>
              <a:t>Summary &amp; Business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80% Churn Recall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Identifies 8 out of 10 customers planning to defect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371600"/>
            <a:ext cx="365760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+$8,580 Direct Net Savings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Per 1,400 customers through cost-benefit threshold tuning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17520"/>
            <a:ext cx="365760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Game-Theoretic SHAP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Transparent, auditable explanations for every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017520"/>
            <a:ext cx="3657600" cy="146304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565C0"/>
                </a:solidFill>
              </a:defRPr>
            </a:pPr>
            <a:r>
              <a:t>Actionable GenAI Guidance</a:t>
            </a:r>
          </a:p>
          <a:p>
            <a:pPr>
              <a:spcBef>
                <a:spcPts val="400"/>
              </a:spcBef>
              <a:defRPr sz="1000">
                <a:solidFill>
                  <a:srgbClr val="212121"/>
                </a:solidFill>
              </a:defRPr>
            </a:pPr>
            <a:r>
              <a:t>Grounded retention offers tailored to individual customer drivers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